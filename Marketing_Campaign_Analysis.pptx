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9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2B5E"/>
                </a:solidFill>
                <a:latin typeface="Arial"/>
              </a:rPr>
              <a:t>Age Group Distribution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274-470A-B862-8CA7B27C70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274-470A-B862-8CA7B27C7036}"/>
              </c:ext>
            </c:extLst>
          </c:dPt>
          <c:dPt>
            <c:idx val="2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74-470A-B862-8CA7B27C7036}"/>
              </c:ext>
            </c:extLst>
          </c:dPt>
          <c:dPt>
            <c:idx val="3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74-470A-B862-8CA7B27C703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274-470A-B862-8CA7B27C703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Under 35</c:v>
                </c:pt>
                <c:pt idx="1">
                  <c:v>35–45</c:v>
                </c:pt>
                <c:pt idx="2">
                  <c:v>45–55</c:v>
                </c:pt>
                <c:pt idx="3">
                  <c:v>55–65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17</c:v>
                </c:pt>
                <c:pt idx="2">
                  <c:v>25.9</c:v>
                </c:pt>
                <c:pt idx="3">
                  <c:v>30.4</c:v>
                </c:pt>
                <c:pt idx="4">
                  <c:v>21.9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274-470A-B862-8CA7B27C70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5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C2B5E"/>
                </a:solidFill>
                <a:latin typeface="Arial"/>
              </a:rPr>
              <a:t>Education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83-4610-B332-62A04248271E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83-4610-B332-62A04248271E}"/>
              </c:ext>
            </c:extLst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83-4610-B332-62A04248271E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83-4610-B332-62A04248271E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83-4610-B332-62A04248271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83-4610-B332-62A04248271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83-4610-B332-62A04248271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83-4610-B332-62A04248271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583-4610-B332-62A04248271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583-4610-B332-62A04248271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Graduation</c:v>
                </c:pt>
                <c:pt idx="1">
                  <c:v>PhD</c:v>
                </c:pt>
                <c:pt idx="2">
                  <c:v>Master</c:v>
                </c:pt>
                <c:pt idx="3">
                  <c:v>2n Cycle</c:v>
                </c:pt>
                <c:pt idx="4">
                  <c:v>Basic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50.3</c:v>
                </c:pt>
                <c:pt idx="1">
                  <c:v>21.7</c:v>
                </c:pt>
                <c:pt idx="2">
                  <c:v>16.5</c:v>
                </c:pt>
                <c:pt idx="3">
                  <c:v>9.1</c:v>
                </c:pt>
                <c:pt idx="4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583-4610-B332-62A0424827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2B5E"/>
                </a:solidFill>
                <a:latin typeface="Arial"/>
              </a:rPr>
              <a:t>Campaign Response Rate by Marital Status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2B-4798-B72A-7B68534CE3AF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2B-4798-B72A-7B68534CE3AF}"/>
              </c:ext>
            </c:extLst>
          </c:dPt>
          <c:dPt>
            <c:idx val="2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2B-4798-B72A-7B68534CE3AF}"/>
              </c:ext>
            </c:extLst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2B-4798-B72A-7B68534CE3AF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2B-4798-B72A-7B68534CE3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Single</c:v>
                </c:pt>
                <c:pt idx="1">
                  <c:v>Married</c:v>
                </c:pt>
                <c:pt idx="2">
                  <c:v>Together</c:v>
                </c:pt>
                <c:pt idx="3">
                  <c:v>Divorced</c:v>
                </c:pt>
                <c:pt idx="4">
                  <c:v>Widow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17.100000000000001</c:v>
                </c:pt>
                <c:pt idx="1">
                  <c:v>14.2</c:v>
                </c:pt>
                <c:pt idx="2">
                  <c:v>14.8</c:v>
                </c:pt>
                <c:pt idx="3">
                  <c:v>15.3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2B-4798-B72A-7B68534CE3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5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C2B5E"/>
                </a:solidFill>
                <a:latin typeface="Arial"/>
              </a:rPr>
              <a:t>Mean Customer Spend per Category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Spend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F7-4E7E-811F-6F9AF99486CA}"/>
              </c:ext>
            </c:extLst>
          </c:dPt>
          <c:dPt>
            <c:idx val="1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F7-4E7E-811F-6F9AF99486CA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F7-4E7E-811F-6F9AF99486CA}"/>
              </c:ext>
            </c:extLst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5F7-4E7E-811F-6F9AF99486CA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F7-4E7E-811F-6F9AF99486CA}"/>
              </c:ext>
            </c:extLst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5F7-4E7E-811F-6F9AF99486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Wines</c:v>
                </c:pt>
                <c:pt idx="1">
                  <c:v>Meat Products</c:v>
                </c:pt>
                <c:pt idx="2">
                  <c:v>Gold Products</c:v>
                </c:pt>
                <c:pt idx="3">
                  <c:v>Fish Products</c:v>
                </c:pt>
                <c:pt idx="4">
                  <c:v>Sweet Products</c:v>
                </c:pt>
                <c:pt idx="5">
                  <c:v>Fruits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303.94</c:v>
                </c:pt>
                <c:pt idx="1">
                  <c:v>166.95</c:v>
                </c:pt>
                <c:pt idx="2">
                  <c:v>44.02</c:v>
                </c:pt>
                <c:pt idx="3">
                  <c:v>37.53</c:v>
                </c:pt>
                <c:pt idx="4">
                  <c:v>27.06</c:v>
                </c:pt>
                <c:pt idx="5">
                  <c:v>26.3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5F7-4E7E-811F-6F9AF99486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2B5E"/>
                </a:solidFill>
                <a:latin typeface="Arial"/>
              </a:rPr>
              <a:t>Avg Purchases by Channel — Responders vs Non-Responders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Store</c:v>
                </c:pt>
                <c:pt idx="1">
                  <c:v>Web</c:v>
                </c:pt>
                <c:pt idx="2">
                  <c:v>Catalog</c:v>
                </c:pt>
                <c:pt idx="3">
                  <c:v>Deals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5.2</c:v>
                </c:pt>
                <c:pt idx="2">
                  <c:v>5.5</c:v>
                </c:pt>
                <c:pt idx="3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38-41DB-A817-5AFDD75684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Non-Responders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Store</c:v>
                </c:pt>
                <c:pt idx="1">
                  <c:v>Web</c:v>
                </c:pt>
                <c:pt idx="2">
                  <c:v>Catalog</c:v>
                </c:pt>
                <c:pt idx="3">
                  <c:v>Deals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5.6</c:v>
                </c:pt>
                <c:pt idx="1">
                  <c:v>4.0999999999999996</c:v>
                </c:pt>
                <c:pt idx="2">
                  <c:v>2.2999999999999998</c:v>
                </c:pt>
                <c:pt idx="3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38-41DB-A817-5AFDD7568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2B5E"/>
                </a:solidFill>
                <a:latin typeface="Arial"/>
              </a:rPr>
              <a:t>Customer Base Segmentation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FE-43D5-A120-068D91794F27}"/>
              </c:ext>
            </c:extLst>
          </c:dPt>
          <c:dPt>
            <c:idx val="1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FE-43D5-A120-068D91794F27}"/>
              </c:ext>
            </c:extLst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FE-43D5-A120-068D91794F2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FE-43D5-A120-068D91794F2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FE-43D5-A120-068D91794F2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FE-43D5-A120-068D91794F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High-Value Engagers (18%)</c:v>
                </c:pt>
                <c:pt idx="1">
                  <c:v>Moderate Shoppers (52%)</c:v>
                </c:pt>
                <c:pt idx="2">
                  <c:v>Low-Engagement (30%)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52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FE-43D5-A120-068D91794F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C2B5E"/>
                </a:solidFill>
                <a:latin typeface="Arial"/>
              </a:rPr>
              <a:t>Response Rate vs. Number of Prior Campaign Acceptances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C7-4F3F-A645-8784750C14C2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C7-4F3F-A645-8784750C14C2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C7-4F3F-A645-8784750C14C2}"/>
              </c:ext>
            </c:extLst>
          </c:dPt>
          <c:dPt>
            <c:idx val="3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C7-4F3F-A645-8784750C14C2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C7-4F3F-A645-8784750C14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Prior</c:v>
                </c:pt>
                <c:pt idx="1">
                  <c:v>1 Prior</c:v>
                </c:pt>
                <c:pt idx="2">
                  <c:v>2 Prior</c:v>
                </c:pt>
                <c:pt idx="3">
                  <c:v>3 Prior</c:v>
                </c:pt>
                <c:pt idx="4">
                  <c:v>4+ Prior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24</c:v>
                </c:pt>
                <c:pt idx="3">
                  <c:v>45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C7-4F3F-A645-8784750C14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2B5E"/>
                </a:solidFill>
                <a:latin typeface="Arial"/>
              </a:rPr>
              <a:t>Odds Ratios — Logistic Regression Predictors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254-42EC-AC26-D734652B135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254-42EC-AC26-D734652B135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254-42EC-AC26-D734652B1354}"/>
              </c:ext>
            </c:extLst>
          </c:dPt>
          <c:dPt>
            <c:idx val="3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54-42EC-AC26-D734652B1354}"/>
              </c:ext>
            </c:extLst>
          </c:dPt>
          <c:dPt>
            <c:idx val="4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54-42EC-AC26-D734652B1354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254-42EC-AC26-D734652B1354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254-42EC-AC26-D734652B13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Campaigns Accepted</c:v>
                </c:pt>
                <c:pt idx="1">
                  <c:v>Web Visits/Month</c:v>
                </c:pt>
                <c:pt idx="2">
                  <c:v>Total Spend</c:v>
                </c:pt>
                <c:pt idx="3">
                  <c:v>Total Purchases</c:v>
                </c:pt>
                <c:pt idx="4">
                  <c:v>Education Enc</c:v>
                </c:pt>
                <c:pt idx="5">
                  <c:v>Teenhome (neg.)</c:v>
                </c:pt>
                <c:pt idx="6">
                  <c:v>Recency (neg.)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2.3370000000000002</c:v>
                </c:pt>
                <c:pt idx="1">
                  <c:v>1.7130000000000001</c:v>
                </c:pt>
                <c:pt idx="2">
                  <c:v>1.55</c:v>
                </c:pt>
                <c:pt idx="3">
                  <c:v>1.2689999999999999</c:v>
                </c:pt>
                <c:pt idx="4">
                  <c:v>1.306</c:v>
                </c:pt>
                <c:pt idx="5">
                  <c:v>0.623</c:v>
                </c:pt>
                <c:pt idx="6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254-42EC-AC26-D734652B13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2B5E"/>
                </a:solidFill>
                <a:latin typeface="Arial"/>
              </a:rPr>
              <a:t>Projected Response Rate by Targeting Scenario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Response Rate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81-4432-8EFE-E65D5E25EA5D}"/>
              </c:ext>
            </c:extLst>
          </c:dPt>
          <c:dPt>
            <c:idx val="1"/>
            <c:invertIfNegative val="0"/>
            <c:bubble3D val="0"/>
            <c:spPr>
              <a:solidFill>
                <a:srgbClr val="1C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81-4432-8EFE-E65D5E25EA5D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81-4432-8EFE-E65D5E25EA5D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81-4432-8EFE-E65D5E25EA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 Income Shift (+$10K)</c:v>
                </c:pt>
                <c:pt idx="1">
                  <c:v>No Children Segment</c:v>
                </c:pt>
                <c:pt idx="2">
                  <c:v>Low Recency (&lt;30 days)</c:v>
                </c:pt>
                <c:pt idx="3">
                  <c:v>Multi-Campaign History (3+)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17.8</c:v>
                </c:pt>
                <c:pt idx="1">
                  <c:v>19.7</c:v>
                </c:pt>
                <c:pt idx="2">
                  <c:v>22.4</c:v>
                </c:pt>
                <c:pt idx="3">
                  <c:v>38.5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81-4432-8EFE-E65D5E25EA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06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128016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Behaviour, Statistical Modelling &amp; Predictive Analytics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55448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2,240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31136" y="1965960"/>
            <a:ext cx="155448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31136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31136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Variables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13632" y="1965960"/>
            <a:ext cx="155448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13632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14.9%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13632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Response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6128" y="1965960"/>
            <a:ext cx="155448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96128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87.4%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96128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Model Accuracy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78624" y="1965960"/>
            <a:ext cx="155448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78624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0.871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78624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AUC-ROC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2880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Subject: Business Analytics  |  Submitted to: Dr. Abhishek Sharma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1455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Team: Shivam Mittal · Arshneet Kaur · Mayuri Rastogi · Aditi Singh · Ayan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749040"/>
            <a:ext cx="365760" cy="36576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4005072"/>
            <a:ext cx="457200" cy="457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4261104"/>
            <a:ext cx="548640" cy="54864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18888"/>
            <a:ext cx="8229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Business Analytics | Dr. Abhishek Sharma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114800" cy="29260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6400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640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Introduction &amp; Executive Summary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987552"/>
            <a:ext cx="4114800" cy="29260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" y="987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Dataset Overview &amp; Data Quality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35024"/>
            <a:ext cx="4114800" cy="29260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" y="13350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13350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Customer Demographic Profile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682496"/>
            <a:ext cx="4114800" cy="29260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" y="168249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Purchase Behaviour &amp; Channel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029968"/>
            <a:ext cx="4114800" cy="29260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" y="20299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05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2029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Campaign Response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114800" cy="292608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23774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06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2377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Power BI Dashboard Architecture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640080"/>
            <a:ext cx="4114800" cy="29260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46904" y="6400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07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49240" y="640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Statistical Analysis &amp; Hypothesis Testing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987552"/>
            <a:ext cx="4114800" cy="29260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46904" y="987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08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49240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Linear Regression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1335024"/>
            <a:ext cx="4114800" cy="29260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46904" y="13350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09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13350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Logistic Regression Model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1682496"/>
            <a:ext cx="4114800" cy="29260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46904" y="168249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0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Synthetic Data Generation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2029968"/>
            <a:ext cx="4114800" cy="29260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46904" y="20299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11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49240" y="2029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Integrated Insights &amp; Recommendations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2377440"/>
            <a:ext cx="4114800" cy="292608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46904" y="23774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12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49240" y="2377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Conclusion &amp; Future Directions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5E"/>
                </a:solidFill>
              </a:rPr>
              <a:t>The Business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marketing is one of the most data-rich yet wasteful practices when executed without precision. The core question is: who should we reach out to, and when?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50876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9202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Indiscriminate campaigns waste budget on customers who will never buy, resulting in poor ROI.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697480" cy="7315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9202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2,240 customers across 29 variables to build predictive models identifying likely responders.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50876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The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9202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14.9% accepted the last campaign — the right model can dramatically reduce wasted outreach.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8321040" cy="960120"/>
          </a:xfrm>
          <a:prstGeom prst="rect">
            <a:avLst/>
          </a:prstGeom>
          <a:solidFill>
            <a:srgbClr val="1C2B5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Objectives: (1) Understand customers · (2) Analyse behaviour · (3) Build Power BI dashboards · (4) Apply regression modelling · (5) Generate synthetic data for model improvement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Key Performance Indicators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192024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62179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62179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Campaign Response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62179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621792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262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Accuracy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62179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621792"/>
            <a:ext cx="19202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AUC-ROC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1965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1965960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130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11480" y="2715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R² (Spending)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68880" y="1965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1965960"/>
            <a:ext cx="192024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2468880" y="2130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468880" y="2715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Predictor (Corr.)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1965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196596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2130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3.9×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26280" y="2715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 Uplift (Model vs. Mass)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19659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1965960"/>
            <a:ext cx="19202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130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$987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583680" y="2715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Spend — Responders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3310128"/>
            <a:ext cx="8321040" cy="1325880"/>
          </a:xfrm>
          <a:prstGeom prst="rect">
            <a:avLst/>
          </a:prstGeom>
          <a:solidFill>
            <a:srgbClr val="1C2B5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" y="3364992"/>
            <a:ext cx="80467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▶  Customers who accepted 3+ prior campaigns are 3× more likely to respond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▶  High-income customers (&gt;$60K) spend 18% more on average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▶  Households with no children are 40% more likely to accept a campaign offer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▶  PhD-educated customers show the highest response rate at 20.8%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2,240 Customers · 29 Variables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58368"/>
            <a:ext cx="2697480" cy="38404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694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Demographics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7132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5 vars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1155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ID, Year_Birth, Education,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Marital Status, Income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658368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658368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694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Household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7132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2 vars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1155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Kidhome, Teenhome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658368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658368"/>
            <a:ext cx="2697480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694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09560" y="7132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7 vars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111556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Recency, Spend by Category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(6 product types)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596896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596896"/>
            <a:ext cx="26974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Channels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4028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5 vars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305409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Web, Store, Catalog,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Deals, Catalog Purchases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596896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596896"/>
            <a:ext cx="269748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Campaigns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6 vars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305409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AcceptedCmp1–5 + Response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(current campaign)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2596896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596896"/>
            <a:ext cx="269748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Costs/Other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0956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4 vars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305409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Z_CostContact, Z_Revenue,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Complain + Engineered vars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 &amp; Preprocessing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58368"/>
            <a:ext cx="64008" cy="8961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859536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59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0241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 missing income values (1.07%) → filled with median income $51,381 to avoid bias.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664208"/>
            <a:ext cx="64008" cy="8961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86537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Extreme Outliers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029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born 1893 (age 131) &amp; income $666,666 → capped rather than deleted to preserve dataset size.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70048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70048"/>
            <a:ext cx="64008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87121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Marital 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0358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'Absurd', 'YOLO', 'Alone' entries → consolidated into 'Single' category (7 records).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675888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675888"/>
            <a:ext cx="64008" cy="8961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77056"/>
            <a:ext cx="411480" cy="411480"/>
          </a:xfrm>
          <a:prstGeom prst="ellipse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40416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new variables created: Age (from Year_Birth), TotalSpend (sum of 6 categories), TotalPurchases (all channels).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Result: Clean, analysis-ready dataset with no meaningful gaps, consistent categories, and enriched feature set.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— Age Distribution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621792"/>
          <a:ext cx="3154680" cy="242316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 Group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~Count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Total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Response%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Under 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~110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16.2%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35–45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~380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45–55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~580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55–65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~680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65+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~490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21.9%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13.4%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3200400"/>
            <a:ext cx="315468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69280" y="3227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0" y="3474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Younger customers (&lt;35) show the highest response rate at 16.2% — a small but high-value segment to develop via digital channels.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1148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Average customer age: 55.2 years | Predominantly Gen X &amp; Baby Boomers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— Education Level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41148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21792"/>
          <a:ext cx="4069080" cy="2331720"/>
        </p:xfrm>
        <a:graphic>
          <a:graphicData uri="http://schemas.openxmlformats.org/drawingml/2006/table">
            <a:tbl>
              <a:tblPr/>
              <a:tblGrid>
                <a:gridCol w="101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Education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Response%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Graduation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1,127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13.5%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$52,400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20.8%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$59,200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Master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15.4%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$55,800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2n Cycle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10.8%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$46,100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Basic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3.7%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$21,900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663440" y="3063240"/>
            <a:ext cx="4069080" cy="1325880"/>
          </a:xfrm>
          <a:prstGeom prst="rect">
            <a:avLst/>
          </a:prstGeom>
          <a:solidFill>
            <a:srgbClr val="1C2B5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PhD Effect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54880" y="334670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PhD holders respond at 20.8% — nearly 6× higher than Basic education customers (3.7%). Education level is a statistically confirmed campaign predictor (χ² = 48.72, p &lt; 0.001).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— Marital Status &amp; Household Structure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621792"/>
            <a:ext cx="32918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40680" y="621792"/>
            <a:ext cx="54864" cy="12618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713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Single Customers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7840" y="10058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Highest spend ($649 avg) and response rate (17.1%). Likely fewer family obligations, more discretionary income.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40680" y="2039112"/>
            <a:ext cx="32918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40680" y="2039112"/>
            <a:ext cx="54864" cy="126187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2130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Married / Together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77840" y="242316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64.5% of customer base. Moderate response. Often influenced by household children which suppresses campaign engagement.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40680" y="3456432"/>
            <a:ext cx="32918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40680" y="3456432"/>
            <a:ext cx="54864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3547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No Children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77840" y="38404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Households without children are 40% more likely to accept a campaign offer — a key segmentation variable.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Behaviour — Spending by Product Category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621792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621792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667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Wines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941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50.2% of spend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52360" y="667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D9488"/>
                </a:solidFill>
              </a:rPr>
              <a:t>$303.94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897880" y="1591056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591056"/>
            <a:ext cx="54864" cy="82296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1636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Meat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1911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27.6% of spend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52360" y="16367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C2B5E"/>
                </a:solidFill>
              </a:rPr>
              <a:t>$166.95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897880" y="256032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25603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Gold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3504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7.3% of spend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523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$44.02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897880" y="3529584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97880" y="3529584"/>
            <a:ext cx="54864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3575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Fish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35040" y="3849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6.2% of spend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52360" y="35753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366F1"/>
                </a:solidFill>
              </a:rPr>
              <a:t>$37.53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897880" y="4507992"/>
            <a:ext cx="2834640" cy="201168"/>
          </a:xfrm>
          <a:prstGeom prst="rect">
            <a:avLst/>
          </a:prstGeom>
          <a:solidFill>
            <a:srgbClr val="64748B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11480" y="42245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9488"/>
                </a:solidFill>
              </a:rPr>
              <a:t>Responders spend $987 avg vs $539 for non-responders — an 83% gap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Behaviour — Channel Analysis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621792"/>
            <a:ext cx="31546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621792"/>
            <a:ext cx="54864" cy="111556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7132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In-Store (Highest Volume)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1005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Most-used channel (mean 5.79 purchases). Reliable but not the strongest differentiator.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883664"/>
            <a:ext cx="31546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883664"/>
            <a:ext cx="54864" cy="1115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1975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Catalog (Best Predictor)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22677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Strongest correlation with campaign response (0.19) and spending (0.59). Catalog customers are the most commercially valuable.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3145536"/>
            <a:ext cx="31546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145536"/>
            <a:ext cx="54864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32369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Deals / Discounts (Negative)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0" y="352958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Discount-seekers are slightly LESS likely to respond to campaigns — a price-sensitive segment needing a different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Analysis — 3 Behavioural Segments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434840" y="621792"/>
            <a:ext cx="42976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4840" y="621792"/>
            <a:ext cx="64008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90288" y="6858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High-Value Engagers — 18% of 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34840" y="6858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38% response rate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90288" y="96926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income, high spend, multiple prior campaign acceptances. PRIMARY TARGETS for premium campaigns.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4840" y="1975104"/>
            <a:ext cx="42976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1975104"/>
            <a:ext cx="64008" cy="1207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4" name="Text 11"/>
          <p:cNvSpPr/>
          <p:nvPr/>
        </p:nvSpPr>
        <p:spPr>
          <a:xfrm>
            <a:off x="4590288" y="203911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Moderate Shoppers — 52% of Base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34840" y="203911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2B5E"/>
                </a:solidFill>
              </a:rPr>
              <a:t>11% response 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90288" y="232257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Average income, moderate spend, 0–1 prior acceptance. Responsive to personalized offers and targeted discounts.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34840" y="3328416"/>
            <a:ext cx="42976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34840" y="3328416"/>
            <a:ext cx="64008" cy="1207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6"/>
          <p:cNvSpPr/>
          <p:nvPr/>
        </p:nvSpPr>
        <p:spPr>
          <a:xfrm>
            <a:off x="4590288" y="339242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Low-Engagement — 30% of Base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34840" y="339242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5% response rate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90288" y="36758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Lower income, low spend, no prior acceptances, households with multiple children. Need loyalty programs or family-oriented bundles.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3493008"/>
            <a:ext cx="384048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35387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Overall: 334 / 2,240 customers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accepted — just 14.9%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— The Power of Prior Acceptance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52120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621792"/>
            <a:ext cx="2926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621792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The Loyalty Flywheel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005840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Each prior acceptance compounds future response likelihood — odds ratio 2.337 per acceptance.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1828800"/>
            <a:ext cx="2926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1828800"/>
            <a:ext cx="54864" cy="114300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3× Multiplier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21284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Customers with 3+ prior acceptances respond at 45–55% vs. 9% for first-timers — a fundamental behavioural divide.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3035808"/>
            <a:ext cx="29260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3035808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Strategic Implication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419856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Early campaign investment — even at a loss — generates compounding returns through the loyalty flywheel.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Architecture — 5 Analytical Views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54864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217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685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Executive KPI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969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Audience: CMO / VP Marketing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0" y="731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rate, ROI proxy, campaign investment, high-value customer count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417320"/>
            <a:ext cx="548640" cy="71323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4173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Customer Demographics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Audience: Marketing Analysts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49040" y="15270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 histogram, education donut, income scatter, marital tree-map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212848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212848"/>
            <a:ext cx="548640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21284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2276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Purchase Behaviour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Audience: Campaign Managers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23225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Category spend stacked bar, channel comparison, deal purchase scatter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008376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008376"/>
            <a:ext cx="54864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0083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Campaign Performance Tracker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355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Audience: Campaign Managers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31181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Prior-acceptance heatmap, waterfall chart, Sankey customer journey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803904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803904"/>
            <a:ext cx="548640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8039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" y="3867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Model Insights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8992" y="41513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Audience: Data Scientists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4904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probability histogram, ROC curve (AUC=0.871), top predictors bar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Executive KPI 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Dashboard 1: At-a-Glance Campaign Health for Leadership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841248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41248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841248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841248"/>
            <a:ext cx="196596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Revenue/Acceptance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41248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3.67×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 Proxy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841248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841248"/>
            <a:ext cx="19659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20840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High-Value Responders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1965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DAX Measure: Dynamic Response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240280"/>
            <a:ext cx="8321040" cy="8229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2860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ResponseRate = DIVIDE(CALCULATE(COUNTROWS(Customers), Customers[Response] = 1), COUNTROWS(Customers))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200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Feature: Applying any filter (education, age, income) instantly updates ALL 5 KPI cards — making this a genuine decision-support tool, not a static report.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794760"/>
            <a:ext cx="8321040" cy="777240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Sparkline trends sit alongside each KPI card to provide temporal context — enabling CMOs to spot momentum shifts before they become problems.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Correlation Insights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Summary Statistics at a Glance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86868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6868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5E"/>
                </a:solidFill>
              </a:rPr>
              <a:t>55.19 yrs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Mean 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86868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86868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5E"/>
                </a:solidFill>
              </a:rPr>
              <a:t>$52,247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Mean Income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86868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6868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5E"/>
                </a:solidFill>
              </a:rPr>
              <a:t>$605.80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Mean Spend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86868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86868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5E"/>
                </a:solidFill>
              </a:rPr>
              <a:t>0–99 days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Recency Range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Top Correlations with Campaign Response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1993392"/>
            <a:ext cx="83210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2066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 Campaign Acceptance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2103120"/>
            <a:ext cx="136337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066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9488"/>
                </a:solidFill>
              </a:rPr>
              <a:t>0.426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52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Strongest predictor — loyalty drives loyalty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2468880"/>
            <a:ext cx="83210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542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Total Spend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66160" y="2578608"/>
            <a:ext cx="848106" cy="20116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2542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5E"/>
                </a:solidFill>
              </a:rPr>
              <a:t>0.265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35240" y="25420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High spenders are more persuadable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2944368"/>
            <a:ext cx="83210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3017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Recency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32481" y="3054096"/>
            <a:ext cx="633679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30175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-0.198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35240" y="3017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Lower recency score = more responsive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" y="3419856"/>
            <a:ext cx="83210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Total Purchases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566160" y="3529584"/>
            <a:ext cx="611276" cy="2011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3493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366F1"/>
                </a:solidFill>
              </a:rPr>
              <a:t>0.191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35240" y="34930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Frequent buyers engage more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3895344"/>
            <a:ext cx="832104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3968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Age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98952" y="4005072"/>
            <a:ext cx="67208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39684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</a:rPr>
              <a:t>-0.021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35240" y="3968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Age has essentially no relationship (p = 0.316)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Hypothesis Testing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594360" cy="1225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21792"/>
            <a:ext cx="594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6949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Chi-Square: Education vs. Response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15568" y="95097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H₀: Education and response are independent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15568" y="1188720"/>
            <a:ext cx="6583680" cy="237744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1188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χ²(4) = 48.72, p &lt; 0.001 — REJECT H₀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1463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Education level is significantly associated with campaign response. Justifies inclusion as a model predictor.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975104"/>
            <a:ext cx="83210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975104"/>
            <a:ext cx="594360" cy="1225296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975104"/>
            <a:ext cx="594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04825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</a:rPr>
              <a:t>Welch t-Test: Income by Response Group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15568" y="23042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H₀: Mean income is equal for responders and non-responders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15568" y="2542032"/>
            <a:ext cx="6583680" cy="237744"/>
          </a:xfrm>
          <a:prstGeom prst="rect">
            <a:avLst/>
          </a:prstGeom>
          <a:solidFill>
            <a:srgbClr val="1C2B5E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254203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</a:rPr>
              <a:t>t(394.2) = −5.84, p &lt; 0.001 — REJECT H₀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" y="28163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Responders: $60,210 avg income vs. Non-responders: $50,839 — an 18.4% gap ($9,371 difference).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328416"/>
            <a:ext cx="83210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328416"/>
            <a:ext cx="594360" cy="1225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328416"/>
            <a:ext cx="594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34015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ANOVA: Spending by Education Level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15568" y="3657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H₀: Mean total spending is equal across all education groups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5568" y="3895344"/>
            <a:ext cx="6583680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38953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F(4, 2235) = 62.4, p &lt; 0.001 — REJECT H₀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416966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PhD and Master-level customers spend significantly more than Graduation and Basic-level customers (post-hoc Tukey HSD p &lt; 0.05).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Predicting Customer Spending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Purpose: Predict total customer spending to estimate Customer Lifetime Value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86968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6367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 (Variance Explained)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88696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886968"/>
            <a:ext cx="192024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16367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Adjusted R²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88696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886968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26280" y="16367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 (Prediction Error)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88696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886968"/>
            <a:ext cx="19202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16367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Predictors Used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1920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Model Coefficients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12848"/>
          <a:ext cx="8321040" cy="2423160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Predictor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Total Purchases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</a:rPr>
                        <a:t>+$315.00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Each additional purchase adds $315 to predicted spend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Campaigns Accepted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</a:rPr>
                        <a:t>+$111.02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Each prior acceptance adds $111 in predicted spend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</a:rPr>
                        <a:t>+$98.73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Higher income strongly drives spending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Teenhome (neg.)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−$105.05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Teenagers in household reduce predicted spend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Kidhome (neg.)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−$80.49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Young children further reduce spending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Web Visits (neg.)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−$73.97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&lt; 0.001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High web visits without buying = low-value signal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Coefficient Insights &amp; Business Implications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406908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40690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31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Purchase Frequency is 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+$315 per purchase unit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289304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Purchase frequency outweighs every other predictor — including income. Loyalty programs and subscription offers will grow spend more effectively than one-off campaigns.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06908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621792"/>
            <a:ext cx="406908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731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</a:rPr>
              <a:t>Campaign Loyalty Compounds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+$111 per prior acceptance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289304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prior campaign acceptance adds $111 in predicted spending. This reinforces the loyalty flywheel — engaged customers spend more AND are more responsive.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406908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406908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Children Suppress Spending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Kids: −$80 | Teens: −$105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31927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Families redirect discretionary income toward childcare and education. Child-free households should receive premium messaging; families need different positioning.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06908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51760"/>
            <a:ext cx="4069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Web Browsing Without Buying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−$74 per web visit unit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31927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web visit counts without conversion are a low-value signal. Website conversion optimization — moving browsers to buyers — is a material revenue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Predicting Campaign Acceptance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Purpose: Before a campaign is deployed — which customers should we contact?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886968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886968"/>
            <a:ext cx="2834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97880" y="886968"/>
            <a:ext cx="2834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0" y="1051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897880" y="16367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1691640"/>
            <a:ext cx="2834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691640"/>
            <a:ext cx="2834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897880" y="1856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89788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AUC-ROC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97880" y="2496312"/>
            <a:ext cx="2834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2496312"/>
            <a:ext cx="283464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8" name="Text 15"/>
          <p:cNvSpPr/>
          <p:nvPr/>
        </p:nvSpPr>
        <p:spPr>
          <a:xfrm>
            <a:off x="5897880" y="266090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897880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897880" y="3300984"/>
            <a:ext cx="2834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97880" y="3300984"/>
            <a:ext cx="2834640" cy="6400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2" name="Text 19"/>
          <p:cNvSpPr/>
          <p:nvPr/>
        </p:nvSpPr>
        <p:spPr>
          <a:xfrm>
            <a:off x="5897880" y="34655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897880" y="40507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4206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Non-significant: Income, Age, Kidhome — their effects are mediated by the significant variables above.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Model Performance &amp; Evaluation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64008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694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Overall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65836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87.4%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06240" y="694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Correctly classifies 87.4% of all 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417320"/>
            <a:ext cx="64008" cy="71323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AUC-ROC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45389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5E"/>
                </a:solidFill>
              </a:rPr>
              <a:t>0.871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06240" y="14904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Excellent discriminative power (random = 0.5, ensemble benchmark = 0.88–0.93)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212848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212848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Precision (Cls 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24942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57.9%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206240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57.9% of flagged customers actually respond — high confidence in positive predictions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008376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08376"/>
            <a:ext cx="64008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Recall (Cls 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30449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66F1"/>
                </a:solidFill>
              </a:rPr>
              <a:t>35.5%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206240" y="30815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 35.5% of true responders at default threshold (0.50)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03904"/>
            <a:ext cx="83210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803904"/>
            <a:ext cx="64008" cy="7132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77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F1-Score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8404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</a:rPr>
              <a:t>44.0%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20624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Harmonic mean of precision and recall — room for improvement via threshold tuning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6268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9488"/>
                </a:solidFill>
              </a:rPr>
              <a:t>At threshold 0.35: Recall improves to 72.6% — capturing nearly ¾ of true responders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Threshold Analysis &amp; ROI Impact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Flexible threshold = flexible business strategy. Lower threshold = wider net; higher = sharper precision.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86968"/>
          <a:ext cx="8321040" cy="1828800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Customers Targeted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Responders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43.1%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~620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0.35 ★ Optimal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48.3%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72.6%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~502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0.50 Default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57.9%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~244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65.0%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~115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28346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Business ROI Transformation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3154680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3154680"/>
            <a:ext cx="406908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Mass Campaign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(No Model)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1208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Contact all 2,240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1208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334 accept × $11 = $3,674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Cost: 2,240 × $3 = $6,720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1208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Net Loss: −$3,046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09160" y="3154680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3154680"/>
            <a:ext cx="40690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818888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Model @ Threshold 0.35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(Optimal)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18888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Target only 502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18888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243 accept × $11 = $2,673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Cost: 502 × $3 = $1,506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18888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Net Profit: +$1,167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— Purpose &amp; Methodology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406908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73152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777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Address Class Imbalance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" y="126187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14.9% positive class rate means 85% of examples are non-responders. Synthetic records in the positive class help the model identify responders more reliably.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621792"/>
            <a:ext cx="406908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731520"/>
            <a:ext cx="475488" cy="475488"/>
          </a:xfrm>
          <a:prstGeom prst="ellipse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777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</a:rPr>
              <a:t>Statistical Robustness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73168" y="126187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training data produces more robust inference, tighter confidence intervals, and models that generalise better to new customers.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406908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2743200"/>
            <a:ext cx="475488" cy="47548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</a:rPr>
              <a:t>Scenario Modelling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1208" y="327355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Synthetic data enables 'what-if' analysis — simulating different customer mix scenarios that the original dataset cannot support.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33472"/>
            <a:ext cx="406908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274320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Technique Demonstration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73168" y="327355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Showcases a technique increasingly common in production ML pipelines, from SMOTE-based oversampling to GAN-based generation.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59028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Method: 1,000 synthetic records generated using multivariate normal distribution calibrated to original dataset means, SDs, and correlations. Response rate set to ~18.9% (vs. 14.9% original) to partially address class imbalance.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Statistical Fidelity &amp; Model Impact</a:t>
            </a:r>
            <a:endParaRPr lang="en-US" sz="1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21792"/>
          <a:ext cx="8321040" cy="2212848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Original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Synthetic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Difference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Mean 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$52,247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$53,072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+1.58%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Mean 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55.19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54.87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−0.58%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Mean Total Spend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$605.80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$655.25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+8.16%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Mean Recency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49.11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48.93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−0.37%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Response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18.9%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+4.0 pp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Income–Spend Corr.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0.386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0.371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−1.5 pp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2907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Model Performance Improvement After Synthetic Augmentation (+44.6% more data)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218688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3218688"/>
            <a:ext cx="2697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Accuracy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87.4% → 88.1%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65960" y="3547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6A34A"/>
                </a:solidFill>
              </a:rPr>
              <a:t>+0.7pp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46120" y="3218688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3218688"/>
            <a:ext cx="2697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3355848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AUC-ROC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55848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0.871 → 0.879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3547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6A34A"/>
                </a:solidFill>
              </a:rPr>
              <a:t>+0.008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80760" y="3218688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0760" y="3218688"/>
            <a:ext cx="2697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6190488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Recall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90488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35.5% → 43.2%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35240" y="3547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6A34A"/>
                </a:solidFill>
              </a:rPr>
              <a:t>+7.7pp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Scenario Analysis &amp; Targeting Simulations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59436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621792"/>
            <a:ext cx="306324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621792"/>
            <a:ext cx="64008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5824728" y="676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Multi-Campaign (3+)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24728" y="914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38.5% response rate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24728" y="1124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+$42,100 / 1,000 contacts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24728" y="1335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Highest priority — 4× the baseline rate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1719072"/>
            <a:ext cx="306324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1719072"/>
            <a:ext cx="64008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824728" y="1773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Low Recency &lt;30 days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24728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22.4% response rate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24728" y="2221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+$14,600 / 1,000 contacts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24728" y="24323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Recency signals active engagement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2816352"/>
            <a:ext cx="306324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2816352"/>
            <a:ext cx="64008" cy="98755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21" name="Text 18"/>
          <p:cNvSpPr/>
          <p:nvPr/>
        </p:nvSpPr>
        <p:spPr>
          <a:xfrm>
            <a:off x="5824728" y="28712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</a:rPr>
              <a:t>No Children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24728" y="3108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19.7% response rate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24728" y="33192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+$11,400 / 1,000 contacts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24728" y="35295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Child-free = more discretionary spend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3630168"/>
            <a:ext cx="8321040" cy="914400"/>
          </a:xfrm>
          <a:prstGeom prst="rect">
            <a:avLst/>
          </a:prstGeom>
          <a:solidFill>
            <a:srgbClr val="1C2B5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4360" y="36758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scenarios validated by bootstrapping the original dataset 1,000 times. Multi-campaign history scenario is the single highest-ROI targeting filter — a projected 38.5% response rate and additional $42,100 per 1,000 contacts.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Insights — 3 Cross-Cutting Themes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50292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21792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685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The Campaign Engagement Flywheel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969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Logistic Regression: OR = 2.337 (strongest predictor)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Linear Regression: +$111 per prior acceptance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Scenario Analysis: +$42,100 per 1,000 multi-acceptors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49240" y="685800"/>
            <a:ext cx="3246120" cy="1152144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731520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Implication: Early campaign investment — even at a loss — generates compounding returns through the loyalty flywheel. Prioritize acquiring customers likely to engage repeatedly.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8321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11680"/>
            <a:ext cx="502920" cy="128016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1168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2075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5E"/>
                </a:solidFill>
              </a:rPr>
              <a:t>Catalog as the Undervalued Channel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24128" y="23591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Response correlation: 0.19 (strongest of all channels)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Spend correlation: 0.59 (dominant predictor)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Yet catalog represents only 27% of all purchases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075688"/>
            <a:ext cx="3246120" cy="1152144"/>
          </a:xfrm>
          <a:prstGeom prst="rect">
            <a:avLst/>
          </a:prstGeom>
          <a:solidFill>
            <a:srgbClr val="1C2B5E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12140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Implication: Catalog-engaged customers are the most commercially valuable segment. Increasing catalog investment for high-income customers could yield disproportionate returns.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01568"/>
            <a:ext cx="8321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401568"/>
            <a:ext cx="50292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401568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3465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Household Structure as Segmentation Variable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24128" y="37490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Linear Regression: Kids −$80 | Teens −$105 per unit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No-children segment: 40% more likely to accept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Family households need fundamentally different messaging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3465576"/>
            <a:ext cx="3246120" cy="1152144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3511296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Implication: Two separate tracks — premium personal consumption for child-free, family-value track for households with children — will outperform a one-size approach.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Recommendations — Action Plan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21792"/>
          <a:ext cx="8321040" cy="38404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Expected Impact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Deploy logistic model @ threshold 0.35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Save ~$5,200/campaign; ROI up 3.9×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Create Multi-Campaign Loyalist segment (3+)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~38.5% projected response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Increase catalog spend for high-income segment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Strongest channel-spend link (0.59)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2B5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Retarget low-recency customers (&lt;30 days)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22.4% projected response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2B5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Develop child-free household messaging track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19.7% projected response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2B5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Create PhD/Master premium product campaigns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20.8% / 15.4% response rates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Improve website conversion optimization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Web visits coefficient: −$73.97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Retrain model quarterly with new data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+0.8% AUC per retraining (estimated)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Recommendations validated using predictive models, hypothesis tests, and scenario analysis across all 2,240 customer records.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Roadmap — From Model to Production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40690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58368"/>
            <a:ext cx="4069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949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Immediate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5272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logistic model at threshold 0.35 as a monthly batch scoring pipeline. Generate ranked customer list by response probability before each campaign.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658368"/>
            <a:ext cx="40690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658368"/>
            <a:ext cx="406908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6949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1–3 Months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5272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 Champion-Challenger testing: run current model vs. updated version on 80/20 traffic split. Launch Multi-Campaign Loyalist segment and catalog expansion.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70048"/>
            <a:ext cx="40690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70048"/>
            <a:ext cx="40690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06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3–6 Months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6440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Retrain model quarterly as new response data accumulates. Develop child-free vs. family-oriented messaging tracks. Begin website conversion optimization.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670048"/>
            <a:ext cx="406908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70048"/>
            <a:ext cx="40690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7066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6–12 Months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26440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Explore ensemble methods (Random Forest, XGBoost) as performance benchmarks. Build real-time scoring API triggered by customer events. Implement A/B testing for model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</a:rPr>
              <a:t>Business Analytics | Marketing Campaign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 Directions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621792"/>
            <a:ext cx="54864" cy="8961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Model Recall at Default Threshold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Logistic recall of 35.5% at threshold 0.50 is modest. Adjusting to 0.35 improves recall to 72.6% — but threshold choice involves a precision-recall trade-off that should be business-driven.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627632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627632"/>
            <a:ext cx="54864" cy="8961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190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Temporal Dimension Underutilised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Purchase recency and enrolment dates were not fully exploited in time-series form. Tracking behavioural drift over time could reveal early signals of churn or increased engagement.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33472"/>
            <a:ext cx="832104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33472"/>
            <a:ext cx="54864" cy="89611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249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Synthetic Data Limitations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Synthetic records cannot replicate latent correlations in real data that weren't explicitly parameterised. Use as an augmentation tool, not as a replacement for real data collection.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675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</a:rPr>
              <a:t>Future Research Directions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959352"/>
            <a:ext cx="8321040" cy="777240"/>
          </a:xfrm>
          <a:prstGeom prst="rect">
            <a:avLst/>
          </a:prstGeom>
          <a:solidFill>
            <a:srgbClr val="EEF2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050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Ensemble Methods (Random Forest, XGBoost) as performance benchmarks against regression baselines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Real-time Scoring API — extend model from monthly batch to on-demand scoring triggered by customer events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A/B Testing — validate model recommendations in production to close the loop from prediction to measurement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CLV Modelling — build on linear regression framework for sophisticated customer acquisition investment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475488"/>
          </a:xfrm>
          <a:prstGeom prst="rect">
            <a:avLst/>
          </a:prstGeom>
          <a:solidFill>
            <a:srgbClr val="1C2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CONCLUSION &amp; FINAL RECOMMENDATION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Fundamentally Better Way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Marketing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Prior engagement </a:t>
            </a:r>
            <a:r>
              <a:rPr lang="en-US" sz="1050" dirty="0">
                <a:solidFill>
                  <a:srgbClr val="CBD5E1"/>
                </a:solidFill>
              </a:rPr>
              <a:t>is the single most powerful predictor of future engagement (OR: 2.337)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1762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Spending history </a:t>
            </a:r>
            <a:r>
              <a:rPr lang="en-US" sz="1050" dirty="0">
                <a:solidFill>
                  <a:srgbClr val="CBD5E1"/>
                </a:solidFill>
              </a:rPr>
              <a:t>is the best proxy for customer lifetime value (R² = 76.1%)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5237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Recency signals </a:t>
            </a:r>
            <a:r>
              <a:rPr lang="en-US" sz="1050" dirty="0">
                <a:solidFill>
                  <a:srgbClr val="CBD5E1"/>
                </a:solidFill>
              </a:rPr>
              <a:t>active relationships worth nurturing (Recency correlation: −0.198)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8712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Household structure </a:t>
            </a:r>
            <a:r>
              <a:rPr lang="en-US" sz="1050" dirty="0">
                <a:solidFill>
                  <a:srgbClr val="CBD5E1"/>
                </a:solidFill>
              </a:rPr>
              <a:t>shapes campaign relevance — segment child-free vs. family households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8229600" cy="8686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7033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Recommendation: Deploy logistic model at threshold 0.35 + Multi-Campaign Loyalist filter. Projected outcomes: 77.6% reduction in contact costs · 190% increase in response rates · Profitable targeted campaign (vs. loss-making mass outreach)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18888"/>
            <a:ext cx="8229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Business Analytics | Dr. Abhishek Sharma | Shivam Mittal · Arshneet Kaur · Mayuri Rastogi · Aditi Singh · Ayan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3488</Words>
  <Application>Microsoft Office PowerPoint</Application>
  <PresentationFormat>On-screen Show (16:9)</PresentationFormat>
  <Paragraphs>646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Campaign Analysis Report</dc:title>
  <dc:subject>PptxGenJS Presentation</dc:subject>
  <dc:creator>Business Analytics Team</dc:creator>
  <cp:lastModifiedBy>Aditi Singh</cp:lastModifiedBy>
  <cp:revision>2</cp:revision>
  <dcterms:created xsi:type="dcterms:W3CDTF">2026-04-24T05:23:46Z</dcterms:created>
  <dcterms:modified xsi:type="dcterms:W3CDTF">2026-04-24T05:27:36Z</dcterms:modified>
</cp:coreProperties>
</file>